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CCD5-207F-371E-F083-014EF4952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117CF-0FFC-F3E2-9F61-44CAD2DEE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4D0B6-2942-32BF-B65B-C7A5F08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01A48-DFEB-BC19-F547-091D6E17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5FAFE-BF0C-6A62-B481-DB171768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568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7A16-2FBB-9B44-04DF-CCF5617B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36307-3D1A-3419-4DA5-95B77EAE5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1D419-E79E-77C9-1B30-6354764A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98E5-E452-7971-3A27-83EE6506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A7C0A-8999-F504-B67C-FB1B4474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339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074A-303D-1CF0-A233-473213D53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2EF6B-9590-8099-F6B0-6D63D8926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3427C-B2B5-B15C-DB5D-2B2803502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6659D-CEE2-6AFF-6919-939FDD0E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DB7D3-4416-CE24-C07C-4829F53D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867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0208-48DA-6840-2E7C-D2E1AA61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2C0DC-A86E-0A1F-7D4C-89536D7D8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67A9B-8862-E44F-978A-2AAC0B2B9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B8AB5-50A2-2DA2-5418-1805450E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A69DF-0CF5-F896-841F-4ECF9CE6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8C8E5-6336-3EC6-51B7-DE2B615D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684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F00E-23D6-3491-1A97-07E1E72B7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37421-2B09-66C6-6CDB-8BF943AD1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997F3-C717-20F7-CD94-B8064C3D1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00973-242F-99E5-41DE-BBBA627CD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70EC4-DB55-40B9-B5B3-49400C42E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66D39-8F54-6FBE-89BB-AA6DF8F9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C3DA6-2762-1E8A-EAF8-76F1CDEA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10AE6-C5BD-161A-F902-8983C079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608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9690C-05C4-11E8-DC38-802AAAC2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93E84-6CB8-74FF-C7EF-17DE238A0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8AF50-E460-846C-C684-A8D6CAECA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24490-CA8F-345E-8D1C-352E993E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798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4D816-D662-B8EA-771B-0DBC253B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555DF-B035-FB7E-D4C9-E66ECE83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FACC1-B31F-869D-0871-756EDE9E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5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79A5-565A-EBCB-890B-A25DE35A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21D78-251E-3B7E-63A0-C74465DB3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280A7-6AFC-1F13-00C1-8D8D081DD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C2998-A487-A6D5-D704-0DDE9C42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FCCD7-F91E-E53D-3577-E7D59CB6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68B30-2513-30EC-6BC6-D580121A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8268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DA8FF-7375-C882-6197-2D678EC1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54DD1C-B28F-8C70-2CAD-CB84FAD83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127D5-01BC-0B88-4378-A176DF39F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F7573-B4B9-69D4-9DFC-FBC2F25F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ED8BD-664F-A415-07F4-757749C7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0DA5C-9E3E-DBB1-248E-87D080119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72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D839-0DE3-CDED-B353-D4A13661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AB855-4880-2E77-50D9-8F63F1CF0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87ACB-486D-1F42-49D6-9EB63EA15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13988-3CF5-F3F6-D92A-5EDD3A282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201F0-0C2D-E854-37C1-39E28EA2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105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A1A8B-29C5-8A8A-08B5-4F9425FA6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91B09-85FD-8CF3-5F3C-ED4DFE8AE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D102D-5DB5-CCD5-900F-98829457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4CA2-CA36-AC78-ABB4-268264FE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A6992-5567-7F71-E5E1-701876C2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91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4354B5-E9EF-6F7E-F3AB-640D7B7C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0EFA3-62C3-4015-3CBE-4CD0A9AEC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C4AFF-F51C-DDFB-EBCB-F5E96B8B0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225E9-4101-4EC3-B24A-5C974E4F146F}" type="datetimeFigureOut">
              <a:rPr lang="en-CA" smtClean="0"/>
              <a:t>2024-09-09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ADD62-892F-D306-6CCD-B76ADA9C2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E047-C5F1-3347-7B92-FFDF6CA5E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13E48-7078-4215-AC90-312BA033298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70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CC34-4E0C-2F36-F99E-BD524C30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 - VERA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41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C38BC6-8746-8A5B-67B9-3365D522B624}"/>
              </a:ext>
            </a:extLst>
          </p:cNvPr>
          <p:cNvSpPr/>
          <p:nvPr/>
        </p:nvSpPr>
        <p:spPr>
          <a:xfrm>
            <a:off x="2295525" y="1441118"/>
            <a:ext cx="694922" cy="437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Load Study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7ABA184B-045C-A695-8F7B-9298768787BD}"/>
              </a:ext>
            </a:extLst>
          </p:cNvPr>
          <p:cNvSpPr/>
          <p:nvPr/>
        </p:nvSpPr>
        <p:spPr>
          <a:xfrm>
            <a:off x="2095251" y="615031"/>
            <a:ext cx="1095470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CTP Study</a:t>
            </a:r>
            <a:endParaRPr lang="en-CA" sz="1200" dirty="0">
              <a:solidFill>
                <a:schemeClr val="tx1"/>
              </a:solidFill>
            </a:endParaRPr>
          </a:p>
        </p:txBody>
      </p:sp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B97377CE-2A96-A6E4-8941-2C3DD7397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2" y="3560453"/>
            <a:ext cx="250554" cy="25055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A06D32-E006-D5F2-4960-78F8CB93726F}"/>
              </a:ext>
            </a:extLst>
          </p:cNvPr>
          <p:cNvCxnSpPr>
            <a:stCxn id="5" idx="4"/>
            <a:endCxn id="4" idx="0"/>
          </p:cNvCxnSpPr>
          <p:nvPr/>
        </p:nvCxnSpPr>
        <p:spPr>
          <a:xfrm>
            <a:off x="2642986" y="1013383"/>
            <a:ext cx="0" cy="427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3B46374-FFAA-AB75-D564-E6C7471BD8A8}"/>
              </a:ext>
            </a:extLst>
          </p:cNvPr>
          <p:cNvSpPr/>
          <p:nvPr/>
        </p:nvSpPr>
        <p:spPr>
          <a:xfrm>
            <a:off x="5492438" y="1473154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Define Pre and Post Lesions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DADEE-6BB1-7975-17E9-E6E7D3927752}"/>
              </a:ext>
            </a:extLst>
          </p:cNvPr>
          <p:cNvSpPr/>
          <p:nvPr/>
        </p:nvSpPr>
        <p:spPr>
          <a:xfrm>
            <a:off x="7126696" y="1471924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Plot Pre and Post Lesion Curves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72AAF5E5-01C2-2EEF-4629-8382F6B0C0F9}"/>
              </a:ext>
            </a:extLst>
          </p:cNvPr>
          <p:cNvSpPr/>
          <p:nvPr/>
        </p:nvSpPr>
        <p:spPr>
          <a:xfrm>
            <a:off x="3445475" y="1126779"/>
            <a:ext cx="1511930" cy="106830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Level and Width?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ED1A0E-0B63-8332-8C25-84D6E2EAEDCE}"/>
              </a:ext>
            </a:extLst>
          </p:cNvPr>
          <p:cNvSpPr/>
          <p:nvPr/>
        </p:nvSpPr>
        <p:spPr>
          <a:xfrm>
            <a:off x="5224921" y="2532813"/>
            <a:ext cx="984634" cy="436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Level/Width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F712AD-6233-7EAD-403C-72F911AA4483}"/>
              </a:ext>
            </a:extLst>
          </p:cNvPr>
          <p:cNvSpPr txBox="1"/>
          <p:nvPr/>
        </p:nvSpPr>
        <p:spPr>
          <a:xfrm>
            <a:off x="4432572" y="2005601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68CA92-E2D7-C58A-9130-BB6353D1F4E8}"/>
              </a:ext>
            </a:extLst>
          </p:cNvPr>
          <p:cNvSpPr txBox="1"/>
          <p:nvPr/>
        </p:nvSpPr>
        <p:spPr>
          <a:xfrm>
            <a:off x="5078736" y="1663134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98B1FF-E37D-EC48-DE20-98F8F31973E8}"/>
              </a:ext>
            </a:extLst>
          </p:cNvPr>
          <p:cNvCxnSpPr>
            <a:stCxn id="4" idx="3"/>
            <a:endCxn id="18" idx="1"/>
          </p:cNvCxnSpPr>
          <p:nvPr/>
        </p:nvCxnSpPr>
        <p:spPr>
          <a:xfrm>
            <a:off x="2990447" y="1659956"/>
            <a:ext cx="455028" cy="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7B6C96-0CC6-7648-6D65-86F502E8B040}"/>
              </a:ext>
            </a:extLst>
          </p:cNvPr>
          <p:cNvCxnSpPr>
            <a:stCxn id="18" idx="3"/>
            <a:endCxn id="12" idx="1"/>
          </p:cNvCxnSpPr>
          <p:nvPr/>
        </p:nvCxnSpPr>
        <p:spPr>
          <a:xfrm flipV="1">
            <a:off x="4957405" y="1658751"/>
            <a:ext cx="535033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7F8450-23C5-2C77-5382-9660B7BD4DBE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 flipV="1">
            <a:off x="6813539" y="1657521"/>
            <a:ext cx="313157" cy="1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83A527B-A9F7-4719-6FBE-331B021E8472}"/>
              </a:ext>
            </a:extLst>
          </p:cNvPr>
          <p:cNvCxnSpPr>
            <a:stCxn id="19" idx="3"/>
            <a:endCxn id="12" idx="2"/>
          </p:cNvCxnSpPr>
          <p:nvPr/>
        </p:nvCxnSpPr>
        <p:spPr>
          <a:xfrm flipH="1" flipV="1">
            <a:off x="6152989" y="1844348"/>
            <a:ext cx="56566" cy="906503"/>
          </a:xfrm>
          <a:prstGeom prst="bentConnector4">
            <a:avLst>
              <a:gd name="adj1" fmla="val -404130"/>
              <a:gd name="adj2" fmla="val 620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15750231-27D2-93BE-0028-7585DB960ED9}"/>
              </a:ext>
            </a:extLst>
          </p:cNvPr>
          <p:cNvSpPr/>
          <p:nvPr/>
        </p:nvSpPr>
        <p:spPr>
          <a:xfrm>
            <a:off x="8662780" y="1327668"/>
            <a:ext cx="1657195" cy="66472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Curve(s)?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00B5F21-68AF-C2D6-58AB-4AF3A21C816A}"/>
              </a:ext>
            </a:extLst>
          </p:cNvPr>
          <p:cNvCxnSpPr>
            <a:stCxn id="15" idx="3"/>
            <a:endCxn id="37" idx="1"/>
          </p:cNvCxnSpPr>
          <p:nvPr/>
        </p:nvCxnSpPr>
        <p:spPr>
          <a:xfrm>
            <a:off x="8447797" y="1657521"/>
            <a:ext cx="214983" cy="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86E6369-87B1-D79A-C682-D01B1D31BBD8}"/>
              </a:ext>
            </a:extLst>
          </p:cNvPr>
          <p:cNvCxnSpPr>
            <a:cxnSpLocks/>
            <a:stCxn id="37" idx="2"/>
            <a:endCxn id="45" idx="0"/>
          </p:cNvCxnSpPr>
          <p:nvPr/>
        </p:nvCxnSpPr>
        <p:spPr>
          <a:xfrm flipH="1">
            <a:off x="9488518" y="1992392"/>
            <a:ext cx="2860" cy="537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9150CAB-97CD-F618-E268-CC1697FEAD96}"/>
              </a:ext>
            </a:extLst>
          </p:cNvPr>
          <p:cNvSpPr txBox="1"/>
          <p:nvPr/>
        </p:nvSpPr>
        <p:spPr>
          <a:xfrm>
            <a:off x="9469255" y="2053605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E1CD0A2-F4B9-7835-F6B1-6E843076EB6D}"/>
              </a:ext>
            </a:extLst>
          </p:cNvPr>
          <p:cNvSpPr/>
          <p:nvPr/>
        </p:nvSpPr>
        <p:spPr>
          <a:xfrm>
            <a:off x="10717245" y="1474058"/>
            <a:ext cx="1016000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Fit Curve(s)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C21A630-D88B-29AB-32AD-6A35D03FFD65}"/>
              </a:ext>
            </a:extLst>
          </p:cNvPr>
          <p:cNvCxnSpPr>
            <a:stCxn id="37" idx="3"/>
            <a:endCxn id="51" idx="1"/>
          </p:cNvCxnSpPr>
          <p:nvPr/>
        </p:nvCxnSpPr>
        <p:spPr>
          <a:xfrm flipV="1">
            <a:off x="10319975" y="1659655"/>
            <a:ext cx="397270" cy="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EBE3AB8B-1FA7-A668-5B50-B9AD6E962F5C}"/>
              </a:ext>
            </a:extLst>
          </p:cNvPr>
          <p:cNvCxnSpPr>
            <a:stCxn id="51" idx="0"/>
            <a:endCxn id="37" idx="0"/>
          </p:cNvCxnSpPr>
          <p:nvPr/>
        </p:nvCxnSpPr>
        <p:spPr>
          <a:xfrm rot="16200000" flipV="1">
            <a:off x="10285117" y="533929"/>
            <a:ext cx="146390" cy="1733867"/>
          </a:xfrm>
          <a:prstGeom prst="bentConnector3">
            <a:avLst>
              <a:gd name="adj1" fmla="val 25615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52A8CD8-AAE5-4A6A-5440-6508243FD5D8}"/>
              </a:ext>
            </a:extLst>
          </p:cNvPr>
          <p:cNvSpPr txBox="1"/>
          <p:nvPr/>
        </p:nvSpPr>
        <p:spPr>
          <a:xfrm>
            <a:off x="10350808" y="1400862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A75412A8-574D-DB65-7086-1F380EF1419A}"/>
              </a:ext>
            </a:extLst>
          </p:cNvPr>
          <p:cNvCxnSpPr>
            <a:cxnSpLocks/>
            <a:stCxn id="45" idx="3"/>
            <a:endCxn id="51" idx="2"/>
          </p:cNvCxnSpPr>
          <p:nvPr/>
        </p:nvCxnSpPr>
        <p:spPr>
          <a:xfrm flipV="1">
            <a:off x="11145776" y="1845252"/>
            <a:ext cx="79469" cy="9579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016673E1-0051-568A-0CC8-B098B2EB5B04}"/>
              </a:ext>
            </a:extLst>
          </p:cNvPr>
          <p:cNvSpPr/>
          <p:nvPr/>
        </p:nvSpPr>
        <p:spPr>
          <a:xfrm>
            <a:off x="6315203" y="3688904"/>
            <a:ext cx="1009323" cy="437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Calculate FFR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EFAC52B-CCAF-AE4E-79D9-9C2A0D2443A4}"/>
              </a:ext>
            </a:extLst>
          </p:cNvPr>
          <p:cNvCxnSpPr>
            <a:cxnSpLocks/>
            <a:stCxn id="204" idx="4"/>
            <a:endCxn id="60" idx="0"/>
          </p:cNvCxnSpPr>
          <p:nvPr/>
        </p:nvCxnSpPr>
        <p:spPr>
          <a:xfrm rot="5400000">
            <a:off x="8480354" y="124311"/>
            <a:ext cx="1904104" cy="5225082"/>
          </a:xfrm>
          <a:prstGeom prst="bentConnector3">
            <a:avLst>
              <a:gd name="adj1" fmla="val 7862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Flowchart: Decision 67">
            <a:extLst>
              <a:ext uri="{FF2B5EF4-FFF2-40B4-BE49-F238E27FC236}">
                <a16:creationId xmlns:a16="http://schemas.microsoft.com/office/drawing/2014/main" id="{DD8CF31A-EEB3-FC03-6994-52495164DE00}"/>
              </a:ext>
            </a:extLst>
          </p:cNvPr>
          <p:cNvSpPr/>
          <p:nvPr/>
        </p:nvSpPr>
        <p:spPr>
          <a:xfrm>
            <a:off x="2811616" y="2580718"/>
            <a:ext cx="1681264" cy="54507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Stenosis?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3237F8-C044-001F-011F-015910AC3CB1}"/>
              </a:ext>
            </a:extLst>
          </p:cNvPr>
          <p:cNvSpPr txBox="1"/>
          <p:nvPr/>
        </p:nvSpPr>
        <p:spPr>
          <a:xfrm>
            <a:off x="1756569" y="3151025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1995577D-9C9B-7C06-A4C8-8AC801643B12}"/>
              </a:ext>
            </a:extLst>
          </p:cNvPr>
          <p:cNvCxnSpPr>
            <a:cxnSpLocks/>
            <a:stCxn id="83" idx="2"/>
            <a:endCxn id="60" idx="2"/>
          </p:cNvCxnSpPr>
          <p:nvPr/>
        </p:nvCxnSpPr>
        <p:spPr>
          <a:xfrm rot="5400000" flipH="1" flipV="1">
            <a:off x="3765976" y="2324344"/>
            <a:ext cx="1251653" cy="4856124"/>
          </a:xfrm>
          <a:prstGeom prst="bentConnector3">
            <a:avLst>
              <a:gd name="adj1" fmla="val -182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Flowchart: Manual Input 82">
            <a:extLst>
              <a:ext uri="{FF2B5EF4-FFF2-40B4-BE49-F238E27FC236}">
                <a16:creationId xmlns:a16="http://schemas.microsoft.com/office/drawing/2014/main" id="{1A4A8AB2-D3F0-218C-8F5A-3F1BFE8FC3A2}"/>
              </a:ext>
            </a:extLst>
          </p:cNvPr>
          <p:cNvSpPr/>
          <p:nvPr/>
        </p:nvSpPr>
        <p:spPr>
          <a:xfrm>
            <a:off x="1411643" y="4822773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Input Parameters</a:t>
            </a:r>
            <a:endParaRPr lang="en-CA" sz="1200" dirty="0">
              <a:solidFill>
                <a:schemeClr val="tx1"/>
              </a:solidFill>
            </a:endParaRPr>
          </a:p>
          <a:p>
            <a:pPr algn="ctr"/>
            <a:endParaRPr lang="en-CA" sz="1200" dirty="0"/>
          </a:p>
        </p:txBody>
      </p:sp>
      <p:sp>
        <p:nvSpPr>
          <p:cNvPr id="86" name="Flowchart: Data 85">
            <a:extLst>
              <a:ext uri="{FF2B5EF4-FFF2-40B4-BE49-F238E27FC236}">
                <a16:creationId xmlns:a16="http://schemas.microsoft.com/office/drawing/2014/main" id="{A9BF15DA-F10C-44B5-9FA2-4D5112135BA6}"/>
              </a:ext>
            </a:extLst>
          </p:cNvPr>
          <p:cNvSpPr/>
          <p:nvPr/>
        </p:nvSpPr>
        <p:spPr>
          <a:xfrm>
            <a:off x="8020303" y="3707984"/>
            <a:ext cx="1614985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90CCB83-7873-CC40-7429-3287961F77D1}"/>
              </a:ext>
            </a:extLst>
          </p:cNvPr>
          <p:cNvCxnSpPr>
            <a:stCxn id="60" idx="3"/>
            <a:endCxn id="86" idx="2"/>
          </p:cNvCxnSpPr>
          <p:nvPr/>
        </p:nvCxnSpPr>
        <p:spPr>
          <a:xfrm flipV="1">
            <a:off x="7324526" y="3907160"/>
            <a:ext cx="857276" cy="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Flowchart: Manual Input 91">
            <a:extLst>
              <a:ext uri="{FF2B5EF4-FFF2-40B4-BE49-F238E27FC236}">
                <a16:creationId xmlns:a16="http://schemas.microsoft.com/office/drawing/2014/main" id="{5A3D28BB-9FC8-5765-9D8D-504FA8C98C4B}"/>
              </a:ext>
            </a:extLst>
          </p:cNvPr>
          <p:cNvSpPr/>
          <p:nvPr/>
        </p:nvSpPr>
        <p:spPr>
          <a:xfrm>
            <a:off x="3261683" y="3632289"/>
            <a:ext cx="787354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Define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Stenosis</a:t>
            </a:r>
            <a:endParaRPr lang="en-CA" sz="1200" dirty="0">
              <a:solidFill>
                <a:schemeClr val="tx1"/>
              </a:solidFill>
            </a:endParaRPr>
          </a:p>
          <a:p>
            <a:pPr algn="ctr"/>
            <a:endParaRPr lang="en-CA" sz="1200" dirty="0"/>
          </a:p>
        </p:txBody>
      </p:sp>
      <p:sp>
        <p:nvSpPr>
          <p:cNvPr id="98" name="Flowchart: Decision 97">
            <a:extLst>
              <a:ext uri="{FF2B5EF4-FFF2-40B4-BE49-F238E27FC236}">
                <a16:creationId xmlns:a16="http://schemas.microsoft.com/office/drawing/2014/main" id="{ACDE35AC-C56D-9BED-7BF2-0D06B8E6504F}"/>
              </a:ext>
            </a:extLst>
          </p:cNvPr>
          <p:cNvSpPr/>
          <p:nvPr/>
        </p:nvSpPr>
        <p:spPr>
          <a:xfrm>
            <a:off x="1018278" y="2586205"/>
            <a:ext cx="1592434" cy="54507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Breaker?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06F2E121-8334-E111-A183-5C317C9398F2}"/>
              </a:ext>
            </a:extLst>
          </p:cNvPr>
          <p:cNvCxnSpPr>
            <a:cxnSpLocks/>
            <a:stCxn id="183" idx="6"/>
            <a:endCxn id="68" idx="0"/>
          </p:cNvCxnSpPr>
          <p:nvPr/>
        </p:nvCxnSpPr>
        <p:spPr>
          <a:xfrm>
            <a:off x="2765900" y="2236067"/>
            <a:ext cx="886348" cy="3446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CAE86C6-FC86-37CC-3C75-318339F36829}"/>
              </a:ext>
            </a:extLst>
          </p:cNvPr>
          <p:cNvCxnSpPr>
            <a:cxnSpLocks/>
            <a:stCxn id="183" idx="2"/>
            <a:endCxn id="98" idx="0"/>
          </p:cNvCxnSpPr>
          <p:nvPr/>
        </p:nvCxnSpPr>
        <p:spPr>
          <a:xfrm rot="10800000" flipV="1">
            <a:off x="1814495" y="2236067"/>
            <a:ext cx="710472" cy="3501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DA83F8-6C3E-D2A0-1860-FB2A711871F2}"/>
              </a:ext>
            </a:extLst>
          </p:cNvPr>
          <p:cNvCxnSpPr>
            <a:stCxn id="68" idx="2"/>
            <a:endCxn id="92" idx="0"/>
          </p:cNvCxnSpPr>
          <p:nvPr/>
        </p:nvCxnSpPr>
        <p:spPr>
          <a:xfrm>
            <a:off x="3652248" y="3125790"/>
            <a:ext cx="3112" cy="562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506AA6B-B64B-6DF2-4DA6-FF82F5531C37}"/>
              </a:ext>
            </a:extLst>
          </p:cNvPr>
          <p:cNvSpPr txBox="1"/>
          <p:nvPr/>
        </p:nvSpPr>
        <p:spPr>
          <a:xfrm>
            <a:off x="3607830" y="3266950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sp>
        <p:nvSpPr>
          <p:cNvPr id="120" name="Flowchart: Manual Input 119">
            <a:extLst>
              <a:ext uri="{FF2B5EF4-FFF2-40B4-BE49-F238E27FC236}">
                <a16:creationId xmlns:a16="http://schemas.microsoft.com/office/drawing/2014/main" id="{0E102D33-B06B-A763-94AC-FD50300D48E5}"/>
              </a:ext>
            </a:extLst>
          </p:cNvPr>
          <p:cNvSpPr/>
          <p:nvPr/>
        </p:nvSpPr>
        <p:spPr>
          <a:xfrm>
            <a:off x="1416012" y="3403688"/>
            <a:ext cx="787354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Define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Breaker</a:t>
            </a:r>
            <a:endParaRPr lang="en-CA" sz="1200" dirty="0">
              <a:solidFill>
                <a:schemeClr val="tx1"/>
              </a:solidFill>
            </a:endParaRPr>
          </a:p>
          <a:p>
            <a:pPr algn="ctr"/>
            <a:endParaRPr lang="en-CA" sz="1200" dirty="0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A06A33C-F178-DB10-FE48-4EF2425BB790}"/>
              </a:ext>
            </a:extLst>
          </p:cNvPr>
          <p:cNvCxnSpPr>
            <a:stCxn id="98" idx="2"/>
            <a:endCxn id="120" idx="0"/>
          </p:cNvCxnSpPr>
          <p:nvPr/>
        </p:nvCxnSpPr>
        <p:spPr>
          <a:xfrm flipH="1">
            <a:off x="1809689" y="3131277"/>
            <a:ext cx="4806" cy="327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Flowchart: Connector 126">
            <a:extLst>
              <a:ext uri="{FF2B5EF4-FFF2-40B4-BE49-F238E27FC236}">
                <a16:creationId xmlns:a16="http://schemas.microsoft.com/office/drawing/2014/main" id="{AB0C4C4D-E983-C1A3-C3E0-EE8C63A3D4B6}"/>
              </a:ext>
            </a:extLst>
          </p:cNvPr>
          <p:cNvSpPr/>
          <p:nvPr/>
        </p:nvSpPr>
        <p:spPr>
          <a:xfrm>
            <a:off x="4815543" y="3810664"/>
            <a:ext cx="277927" cy="21361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8644092-579E-48B5-BBD1-FFC394F9E75F}"/>
              </a:ext>
            </a:extLst>
          </p:cNvPr>
          <p:cNvCxnSpPr>
            <a:cxnSpLocks/>
            <a:stCxn id="92" idx="3"/>
            <a:endCxn id="127" idx="2"/>
          </p:cNvCxnSpPr>
          <p:nvPr/>
        </p:nvCxnSpPr>
        <p:spPr>
          <a:xfrm>
            <a:off x="4049037" y="3910019"/>
            <a:ext cx="766506" cy="7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DA5122B6-0BE5-10F8-C109-E196AAEC57C7}"/>
              </a:ext>
            </a:extLst>
          </p:cNvPr>
          <p:cNvCxnSpPr>
            <a:cxnSpLocks/>
            <a:stCxn id="120" idx="2"/>
            <a:endCxn id="127" idx="4"/>
          </p:cNvCxnSpPr>
          <p:nvPr/>
        </p:nvCxnSpPr>
        <p:spPr>
          <a:xfrm rot="16200000" flipH="1">
            <a:off x="3349533" y="2419303"/>
            <a:ext cx="65131" cy="3144818"/>
          </a:xfrm>
          <a:prstGeom prst="bentConnector3">
            <a:avLst>
              <a:gd name="adj1" fmla="val 7011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26978DC-CBAF-82A7-1323-158AD02F2F74}"/>
              </a:ext>
            </a:extLst>
          </p:cNvPr>
          <p:cNvCxnSpPr>
            <a:cxnSpLocks/>
            <a:stCxn id="127" idx="6"/>
            <a:endCxn id="60" idx="1"/>
          </p:cNvCxnSpPr>
          <p:nvPr/>
        </p:nvCxnSpPr>
        <p:spPr>
          <a:xfrm flipV="1">
            <a:off x="5093470" y="3907742"/>
            <a:ext cx="1221733" cy="9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FAE2E79-BFAD-90D1-6F07-70EFD38753F1}"/>
              </a:ext>
            </a:extLst>
          </p:cNvPr>
          <p:cNvSpPr/>
          <p:nvPr/>
        </p:nvSpPr>
        <p:spPr>
          <a:xfrm>
            <a:off x="10042018" y="3689122"/>
            <a:ext cx="984634" cy="436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Plot FFR Graph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37995136-F31B-4BB0-2FD6-5DEC943F2622}"/>
              </a:ext>
            </a:extLst>
          </p:cNvPr>
          <p:cNvCxnSpPr>
            <a:stCxn id="86" idx="5"/>
            <a:endCxn id="166" idx="1"/>
          </p:cNvCxnSpPr>
          <p:nvPr/>
        </p:nvCxnSpPr>
        <p:spPr>
          <a:xfrm>
            <a:off x="9473790" y="3907160"/>
            <a:ext cx="5682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3" name="Flowchart: Connector 182">
            <a:extLst>
              <a:ext uri="{FF2B5EF4-FFF2-40B4-BE49-F238E27FC236}">
                <a16:creationId xmlns:a16="http://schemas.microsoft.com/office/drawing/2014/main" id="{A25D7934-7927-77E2-EFC1-6D2B72FC903D}"/>
              </a:ext>
            </a:extLst>
          </p:cNvPr>
          <p:cNvSpPr/>
          <p:nvPr/>
        </p:nvSpPr>
        <p:spPr>
          <a:xfrm>
            <a:off x="2524967" y="2110961"/>
            <a:ext cx="240933" cy="2502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C7019895-1A29-BCE6-E183-FA2B045AB6B1}"/>
              </a:ext>
            </a:extLst>
          </p:cNvPr>
          <p:cNvSpPr/>
          <p:nvPr/>
        </p:nvSpPr>
        <p:spPr>
          <a:xfrm>
            <a:off x="1409108" y="5950878"/>
            <a:ext cx="694922" cy="437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Export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Study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93" name="Flowchart: Data 192">
            <a:extLst>
              <a:ext uri="{FF2B5EF4-FFF2-40B4-BE49-F238E27FC236}">
                <a16:creationId xmlns:a16="http://schemas.microsoft.com/office/drawing/2014/main" id="{90AFD7E2-217F-1F52-DAE9-11EF159B1A2B}"/>
              </a:ext>
            </a:extLst>
          </p:cNvPr>
          <p:cNvSpPr/>
          <p:nvPr/>
        </p:nvSpPr>
        <p:spPr>
          <a:xfrm>
            <a:off x="2568170" y="5971729"/>
            <a:ext cx="1095470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CTP Study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6EC3B7BD-4171-03E6-08F2-A412A9166B49}"/>
              </a:ext>
            </a:extLst>
          </p:cNvPr>
          <p:cNvCxnSpPr>
            <a:stCxn id="192" idx="3"/>
            <a:endCxn id="193" idx="2"/>
          </p:cNvCxnSpPr>
          <p:nvPr/>
        </p:nvCxnSpPr>
        <p:spPr>
          <a:xfrm>
            <a:off x="2104030" y="6169716"/>
            <a:ext cx="573687" cy="1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EB5EE652-B291-4AF2-6248-73F9C0ECD846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16200000" flipH="1">
            <a:off x="4790477" y="1606051"/>
            <a:ext cx="337725" cy="15157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9" name="Flowchart: Data 198">
            <a:extLst>
              <a:ext uri="{FF2B5EF4-FFF2-40B4-BE49-F238E27FC236}">
                <a16:creationId xmlns:a16="http://schemas.microsoft.com/office/drawing/2014/main" id="{D6C523D3-CEC6-5495-CE36-DE8A7F9E457C}"/>
              </a:ext>
            </a:extLst>
          </p:cNvPr>
          <p:cNvSpPr/>
          <p:nvPr/>
        </p:nvSpPr>
        <p:spPr>
          <a:xfrm>
            <a:off x="10729438" y="315988"/>
            <a:ext cx="1095470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Export Curves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F27B5DE0-B8A8-B005-896B-695C0A496499}"/>
              </a:ext>
            </a:extLst>
          </p:cNvPr>
          <p:cNvCxnSpPr>
            <a:cxnSpLocks/>
            <a:stCxn id="204" idx="0"/>
            <a:endCxn id="199" idx="5"/>
          </p:cNvCxnSpPr>
          <p:nvPr/>
        </p:nvCxnSpPr>
        <p:spPr>
          <a:xfrm rot="16200000" flipV="1">
            <a:off x="11370442" y="860083"/>
            <a:ext cx="1019424" cy="3295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4" name="Flowchart: Connector 203">
            <a:extLst>
              <a:ext uri="{FF2B5EF4-FFF2-40B4-BE49-F238E27FC236}">
                <a16:creationId xmlns:a16="http://schemas.microsoft.com/office/drawing/2014/main" id="{9B245E4C-28C3-B60E-FC9F-726DEE65D82A}"/>
              </a:ext>
            </a:extLst>
          </p:cNvPr>
          <p:cNvSpPr/>
          <p:nvPr/>
        </p:nvSpPr>
        <p:spPr>
          <a:xfrm>
            <a:off x="11924480" y="1534588"/>
            <a:ext cx="240933" cy="2502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78955956-2C0C-D655-2056-25531FA4F441}"/>
              </a:ext>
            </a:extLst>
          </p:cNvPr>
          <p:cNvCxnSpPr>
            <a:stCxn id="51" idx="3"/>
            <a:endCxn id="204" idx="2"/>
          </p:cNvCxnSpPr>
          <p:nvPr/>
        </p:nvCxnSpPr>
        <p:spPr>
          <a:xfrm>
            <a:off x="11733245" y="1659655"/>
            <a:ext cx="191235" cy="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Flowchart: Data 210">
            <a:extLst>
              <a:ext uri="{FF2B5EF4-FFF2-40B4-BE49-F238E27FC236}">
                <a16:creationId xmlns:a16="http://schemas.microsoft.com/office/drawing/2014/main" id="{52F6F414-A602-945F-A581-AAE2605D10EF}"/>
              </a:ext>
            </a:extLst>
          </p:cNvPr>
          <p:cNvSpPr/>
          <p:nvPr/>
        </p:nvSpPr>
        <p:spPr>
          <a:xfrm>
            <a:off x="7961809" y="4412328"/>
            <a:ext cx="1724752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Save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Calculations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41F0563-DE23-F637-3B18-712E92C1B8CB}"/>
              </a:ext>
            </a:extLst>
          </p:cNvPr>
          <p:cNvCxnSpPr>
            <a:stCxn id="86" idx="4"/>
            <a:endCxn id="211" idx="1"/>
          </p:cNvCxnSpPr>
          <p:nvPr/>
        </p:nvCxnSpPr>
        <p:spPr>
          <a:xfrm flipH="1">
            <a:off x="8824185" y="4106336"/>
            <a:ext cx="3611" cy="305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0EA01579-C307-0F0A-B8F3-9B4F7A004B41}"/>
              </a:ext>
            </a:extLst>
          </p:cNvPr>
          <p:cNvGrpSpPr/>
          <p:nvPr/>
        </p:nvGrpSpPr>
        <p:grpSpPr>
          <a:xfrm>
            <a:off x="7831259" y="2529779"/>
            <a:ext cx="3314517" cy="546854"/>
            <a:chOff x="7089796" y="2529779"/>
            <a:chExt cx="3314517" cy="5468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FB3B343-CBE5-5E2A-B35C-EF69B14804CC}"/>
                </a:ext>
              </a:extLst>
            </p:cNvPr>
            <p:cNvSpPr/>
            <p:nvPr/>
          </p:nvSpPr>
          <p:spPr>
            <a:xfrm>
              <a:off x="8673382" y="2613662"/>
              <a:ext cx="823865" cy="37119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Remove 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Outlier(s)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1CEA208-1608-01D0-1D2F-E3DCCF6304B5}"/>
                </a:ext>
              </a:extLst>
            </p:cNvPr>
            <p:cNvSpPr/>
            <p:nvPr/>
          </p:nvSpPr>
          <p:spPr>
            <a:xfrm>
              <a:off x="9591936" y="2613662"/>
              <a:ext cx="753689" cy="37119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Update Point(s)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AB72DA4-DAB4-4092-2A2E-4C1985D77B38}"/>
                </a:ext>
              </a:extLst>
            </p:cNvPr>
            <p:cNvSpPr/>
            <p:nvPr/>
          </p:nvSpPr>
          <p:spPr>
            <a:xfrm>
              <a:off x="7089796" y="2529779"/>
              <a:ext cx="3314517" cy="5468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8B6C690B-4DDD-370B-87C0-E4BFB69BA80A}"/>
                </a:ext>
              </a:extLst>
            </p:cNvPr>
            <p:cNvSpPr/>
            <p:nvPr/>
          </p:nvSpPr>
          <p:spPr>
            <a:xfrm>
              <a:off x="7170328" y="2615113"/>
              <a:ext cx="1407422" cy="37119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Baseline/Washout Correction</a:t>
              </a:r>
              <a:endParaRPr lang="en-CA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6" name="Flowchart: Connector 225">
            <a:extLst>
              <a:ext uri="{FF2B5EF4-FFF2-40B4-BE49-F238E27FC236}">
                <a16:creationId xmlns:a16="http://schemas.microsoft.com/office/drawing/2014/main" id="{F29CB589-6AB3-3269-6346-CE9D2415E066}"/>
              </a:ext>
            </a:extLst>
          </p:cNvPr>
          <p:cNvSpPr/>
          <p:nvPr/>
        </p:nvSpPr>
        <p:spPr>
          <a:xfrm>
            <a:off x="431638" y="3560453"/>
            <a:ext cx="240933" cy="2502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228" name="Connector: Elbow 227">
            <a:extLst>
              <a:ext uri="{FF2B5EF4-FFF2-40B4-BE49-F238E27FC236}">
                <a16:creationId xmlns:a16="http://schemas.microsoft.com/office/drawing/2014/main" id="{7CD7981D-03C7-90F9-8330-9E80953A313A}"/>
              </a:ext>
            </a:extLst>
          </p:cNvPr>
          <p:cNvCxnSpPr>
            <a:cxnSpLocks/>
            <a:stCxn id="226" idx="0"/>
            <a:endCxn id="4" idx="1"/>
          </p:cNvCxnSpPr>
          <p:nvPr/>
        </p:nvCxnSpPr>
        <p:spPr>
          <a:xfrm rot="5400000" flipH="1" flipV="1">
            <a:off x="473567" y="1738495"/>
            <a:ext cx="1900497" cy="1743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759F62C7-14A0-68EA-5B11-4A2996D3F5F9}"/>
              </a:ext>
            </a:extLst>
          </p:cNvPr>
          <p:cNvCxnSpPr>
            <a:stCxn id="226" idx="4"/>
            <a:endCxn id="192" idx="1"/>
          </p:cNvCxnSpPr>
          <p:nvPr/>
        </p:nvCxnSpPr>
        <p:spPr>
          <a:xfrm rot="16200000" flipH="1">
            <a:off x="-198919" y="4561688"/>
            <a:ext cx="2359051" cy="85700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FF567716-A9A8-7029-931F-4A8FFEDBAC28}"/>
              </a:ext>
            </a:extLst>
          </p:cNvPr>
          <p:cNvCxnSpPr>
            <a:stCxn id="226" idx="5"/>
            <a:endCxn id="83" idx="1"/>
          </p:cNvCxnSpPr>
          <p:nvPr/>
        </p:nvCxnSpPr>
        <p:spPr>
          <a:xfrm rot="16200000" flipH="1">
            <a:off x="361225" y="4050084"/>
            <a:ext cx="1326481" cy="7743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32ED08FB-6C46-FA47-8142-3F797EF1444F}"/>
              </a:ext>
            </a:extLst>
          </p:cNvPr>
          <p:cNvCxnSpPr>
            <a:endCxn id="226" idx="2"/>
          </p:cNvCxnSpPr>
          <p:nvPr/>
        </p:nvCxnSpPr>
        <p:spPr>
          <a:xfrm>
            <a:off x="264216" y="3685559"/>
            <a:ext cx="167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276FA8A-C4C4-D2A1-EF1F-9816DD8A1B83}"/>
              </a:ext>
            </a:extLst>
          </p:cNvPr>
          <p:cNvCxnSpPr>
            <a:stCxn id="4" idx="2"/>
            <a:endCxn id="183" idx="0"/>
          </p:cNvCxnSpPr>
          <p:nvPr/>
        </p:nvCxnSpPr>
        <p:spPr>
          <a:xfrm>
            <a:off x="2642986" y="1878793"/>
            <a:ext cx="2448" cy="232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D69C9CB-7F1D-5153-671E-67880DF9637E}"/>
              </a:ext>
            </a:extLst>
          </p:cNvPr>
          <p:cNvCxnSpPr>
            <a:stCxn id="226" idx="6"/>
            <a:endCxn id="120" idx="1"/>
          </p:cNvCxnSpPr>
          <p:nvPr/>
        </p:nvCxnSpPr>
        <p:spPr>
          <a:xfrm flipV="1">
            <a:off x="672571" y="3681418"/>
            <a:ext cx="743441" cy="4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758BFDC-403C-9913-94BF-BBA61AAAA33E}"/>
              </a:ext>
            </a:extLst>
          </p:cNvPr>
          <p:cNvCxnSpPr>
            <a:stCxn id="68" idx="3"/>
            <a:endCxn id="127" idx="0"/>
          </p:cNvCxnSpPr>
          <p:nvPr/>
        </p:nvCxnSpPr>
        <p:spPr>
          <a:xfrm>
            <a:off x="4492880" y="2853254"/>
            <a:ext cx="461627" cy="9574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E337F65-7BD7-2367-77D6-07E475ABCBA5}"/>
              </a:ext>
            </a:extLst>
          </p:cNvPr>
          <p:cNvSpPr txBox="1"/>
          <p:nvPr/>
        </p:nvSpPr>
        <p:spPr>
          <a:xfrm>
            <a:off x="4216959" y="2847807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014BCF3-6D32-60C4-CD4B-8DD91C312D03}"/>
              </a:ext>
            </a:extLst>
          </p:cNvPr>
          <p:cNvCxnSpPr>
            <a:stCxn id="98" idx="3"/>
            <a:endCxn id="127" idx="3"/>
          </p:cNvCxnSpPr>
          <p:nvPr/>
        </p:nvCxnSpPr>
        <p:spPr>
          <a:xfrm>
            <a:off x="2610712" y="2858741"/>
            <a:ext cx="2245532" cy="1134254"/>
          </a:xfrm>
          <a:prstGeom prst="bentConnector4">
            <a:avLst>
              <a:gd name="adj1" fmla="val 6358"/>
              <a:gd name="adj2" fmla="val 12733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D4585B2-C7CE-B94C-54E2-BE292B8A5A7C}"/>
              </a:ext>
            </a:extLst>
          </p:cNvPr>
          <p:cNvSpPr txBox="1"/>
          <p:nvPr/>
        </p:nvSpPr>
        <p:spPr>
          <a:xfrm>
            <a:off x="2397336" y="2955406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sp>
        <p:nvSpPr>
          <p:cNvPr id="23" name="Flowchart: Data 22">
            <a:extLst>
              <a:ext uri="{FF2B5EF4-FFF2-40B4-BE49-F238E27FC236}">
                <a16:creationId xmlns:a16="http://schemas.microsoft.com/office/drawing/2014/main" id="{4C8A4234-2F2A-0392-FB8A-AB1B7C93618B}"/>
              </a:ext>
            </a:extLst>
          </p:cNvPr>
          <p:cNvSpPr/>
          <p:nvPr/>
        </p:nvSpPr>
        <p:spPr>
          <a:xfrm>
            <a:off x="980606" y="604585"/>
            <a:ext cx="1095470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CTA Study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2C7B162-3AB0-86E3-3C1A-6FE047B2E2F8}"/>
              </a:ext>
            </a:extLst>
          </p:cNvPr>
          <p:cNvCxnSpPr>
            <a:stCxn id="23" idx="4"/>
            <a:endCxn id="4" idx="0"/>
          </p:cNvCxnSpPr>
          <p:nvPr/>
        </p:nvCxnSpPr>
        <p:spPr>
          <a:xfrm rot="16200000" flipH="1">
            <a:off x="1866573" y="664704"/>
            <a:ext cx="438181" cy="1114645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108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81C5-3252-97EA-FCC9-FFAA75BB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 – VERA: Input Parameters</a:t>
            </a:r>
            <a:endParaRPr lang="en-CA" dirty="0"/>
          </a:p>
        </p:txBody>
      </p:sp>
      <p:pic>
        <p:nvPicPr>
          <p:cNvPr id="4" name="Graphic 3" descr="User outline">
            <a:extLst>
              <a:ext uri="{FF2B5EF4-FFF2-40B4-BE49-F238E27FC236}">
                <a16:creationId xmlns:a16="http://schemas.microsoft.com/office/drawing/2014/main" id="{1CD5444C-BCD0-218C-1CE9-92F3EE7D1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235" y="3560453"/>
            <a:ext cx="250554" cy="250554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1536ACF-5ABF-3A1F-9DFC-0D9DFFE515C2}"/>
              </a:ext>
            </a:extLst>
          </p:cNvPr>
          <p:cNvSpPr/>
          <p:nvPr/>
        </p:nvSpPr>
        <p:spPr>
          <a:xfrm>
            <a:off x="866211" y="3560453"/>
            <a:ext cx="240933" cy="2502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CD1F645-17B7-4067-7758-AC92DAE7886A}"/>
              </a:ext>
            </a:extLst>
          </p:cNvPr>
          <p:cNvCxnSpPr>
            <a:endCxn id="5" idx="2"/>
          </p:cNvCxnSpPr>
          <p:nvPr/>
        </p:nvCxnSpPr>
        <p:spPr>
          <a:xfrm>
            <a:off x="698789" y="3685559"/>
            <a:ext cx="167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lowchart: Manual Input 6">
            <a:extLst>
              <a:ext uri="{FF2B5EF4-FFF2-40B4-BE49-F238E27FC236}">
                <a16:creationId xmlns:a16="http://schemas.microsoft.com/office/drawing/2014/main" id="{36F0C1BE-59B6-9D52-5FDD-141A2067C6A0}"/>
              </a:ext>
            </a:extLst>
          </p:cNvPr>
          <p:cNvSpPr/>
          <p:nvPr/>
        </p:nvSpPr>
        <p:spPr>
          <a:xfrm>
            <a:off x="1402596" y="1690688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Contrast Volume</a:t>
            </a:r>
            <a:endParaRPr lang="en-CA" sz="1200" dirty="0"/>
          </a:p>
        </p:txBody>
      </p:sp>
      <p:sp>
        <p:nvSpPr>
          <p:cNvPr id="8" name="Flowchart: Manual Input 7">
            <a:extLst>
              <a:ext uri="{FF2B5EF4-FFF2-40B4-BE49-F238E27FC236}">
                <a16:creationId xmlns:a16="http://schemas.microsoft.com/office/drawing/2014/main" id="{5B63E5BC-0710-83D1-42FD-199999749240}"/>
              </a:ext>
            </a:extLst>
          </p:cNvPr>
          <p:cNvSpPr/>
          <p:nvPr/>
        </p:nvSpPr>
        <p:spPr>
          <a:xfrm>
            <a:off x="2697938" y="1682659"/>
            <a:ext cx="1177648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Contrast Concentration</a:t>
            </a:r>
            <a:endParaRPr lang="en-CA" sz="1200" dirty="0"/>
          </a:p>
        </p:txBody>
      </p:sp>
      <p:sp>
        <p:nvSpPr>
          <p:cNvPr id="9" name="Flowchart: Manual Input 8">
            <a:extLst>
              <a:ext uri="{FF2B5EF4-FFF2-40B4-BE49-F238E27FC236}">
                <a16:creationId xmlns:a16="http://schemas.microsoft.com/office/drawing/2014/main" id="{02C5F15D-76A6-ED96-2F6E-97B2E0D0C4FB}"/>
              </a:ext>
            </a:extLst>
          </p:cNvPr>
          <p:cNvSpPr/>
          <p:nvPr/>
        </p:nvSpPr>
        <p:spPr>
          <a:xfrm>
            <a:off x="4123103" y="1677728"/>
            <a:ext cx="1177648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Conversion Factor</a:t>
            </a:r>
            <a:endParaRPr lang="en-CA" sz="1200" dirty="0"/>
          </a:p>
        </p:txBody>
      </p:sp>
      <p:sp>
        <p:nvSpPr>
          <p:cNvPr id="10" name="Flowchart: Manual Input 9">
            <a:extLst>
              <a:ext uri="{FF2B5EF4-FFF2-40B4-BE49-F238E27FC236}">
                <a16:creationId xmlns:a16="http://schemas.microsoft.com/office/drawing/2014/main" id="{4B12F5AA-C870-6E52-54C2-37AF29405EBE}"/>
              </a:ext>
            </a:extLst>
          </p:cNvPr>
          <p:cNvSpPr/>
          <p:nvPr/>
        </p:nvSpPr>
        <p:spPr>
          <a:xfrm>
            <a:off x="5472401" y="1519414"/>
            <a:ext cx="1580255" cy="716415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 and Post Lesion Tracer Percentage</a:t>
            </a:r>
            <a:endParaRPr lang="en-CA" sz="1200" dirty="0"/>
          </a:p>
        </p:txBody>
      </p:sp>
      <p:sp>
        <p:nvSpPr>
          <p:cNvPr id="11" name="Flowchart: Manual Input 10">
            <a:extLst>
              <a:ext uri="{FF2B5EF4-FFF2-40B4-BE49-F238E27FC236}">
                <a16:creationId xmlns:a16="http://schemas.microsoft.com/office/drawing/2014/main" id="{D2EE9EC0-8999-8D70-FEB1-B9A68E9BEB76}"/>
              </a:ext>
            </a:extLst>
          </p:cNvPr>
          <p:cNvSpPr/>
          <p:nvPr/>
        </p:nvSpPr>
        <p:spPr>
          <a:xfrm>
            <a:off x="7224306" y="1474636"/>
            <a:ext cx="1503241" cy="716415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 and Post Lesion Lumen Radius</a:t>
            </a:r>
            <a:endParaRPr lang="en-CA" sz="1200" dirty="0"/>
          </a:p>
        </p:txBody>
      </p:sp>
      <p:sp>
        <p:nvSpPr>
          <p:cNvPr id="12" name="Flowchart: Manual Input 11">
            <a:extLst>
              <a:ext uri="{FF2B5EF4-FFF2-40B4-BE49-F238E27FC236}">
                <a16:creationId xmlns:a16="http://schemas.microsoft.com/office/drawing/2014/main" id="{6736D20E-803C-F5D5-EA56-04902E7943D0}"/>
              </a:ext>
            </a:extLst>
          </p:cNvPr>
          <p:cNvSpPr/>
          <p:nvPr/>
        </p:nvSpPr>
        <p:spPr>
          <a:xfrm>
            <a:off x="8942729" y="1635592"/>
            <a:ext cx="1115299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Aortic Blood Pressure</a:t>
            </a:r>
            <a:endParaRPr lang="en-CA" sz="1200" dirty="0"/>
          </a:p>
        </p:txBody>
      </p:sp>
      <p:sp>
        <p:nvSpPr>
          <p:cNvPr id="13" name="Flowchart: Manual Input 12">
            <a:extLst>
              <a:ext uri="{FF2B5EF4-FFF2-40B4-BE49-F238E27FC236}">
                <a16:creationId xmlns:a16="http://schemas.microsoft.com/office/drawing/2014/main" id="{A9CE9C4C-A81C-0E63-0297-C9E802F90A47}"/>
              </a:ext>
            </a:extLst>
          </p:cNvPr>
          <p:cNvSpPr/>
          <p:nvPr/>
        </p:nvSpPr>
        <p:spPr>
          <a:xfrm>
            <a:off x="8868512" y="4689291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Arterial Roughness</a:t>
            </a:r>
            <a:endParaRPr lang="en-CA" sz="1200" dirty="0"/>
          </a:p>
        </p:txBody>
      </p:sp>
      <p:sp>
        <p:nvSpPr>
          <p:cNvPr id="14" name="Flowchart: Manual Input 13">
            <a:extLst>
              <a:ext uri="{FF2B5EF4-FFF2-40B4-BE49-F238E27FC236}">
                <a16:creationId xmlns:a16="http://schemas.microsoft.com/office/drawing/2014/main" id="{9FF0DF03-F66C-0902-B550-C48DE3896431}"/>
              </a:ext>
            </a:extLst>
          </p:cNvPr>
          <p:cNvSpPr/>
          <p:nvPr/>
        </p:nvSpPr>
        <p:spPr>
          <a:xfrm>
            <a:off x="1425877" y="4614888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Sampling ROI</a:t>
            </a:r>
            <a:endParaRPr lang="en-CA" sz="1200" dirty="0"/>
          </a:p>
        </p:txBody>
      </p:sp>
      <p:sp>
        <p:nvSpPr>
          <p:cNvPr id="15" name="Flowchart: Manual Input 14">
            <a:extLst>
              <a:ext uri="{FF2B5EF4-FFF2-40B4-BE49-F238E27FC236}">
                <a16:creationId xmlns:a16="http://schemas.microsoft.com/office/drawing/2014/main" id="{4A31AAF1-3E30-5725-2741-185DA86BC46D}"/>
              </a:ext>
            </a:extLst>
          </p:cNvPr>
          <p:cNvSpPr/>
          <p:nvPr/>
        </p:nvSpPr>
        <p:spPr>
          <a:xfrm>
            <a:off x="2771390" y="4614888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Search ROI</a:t>
            </a:r>
            <a:endParaRPr lang="en-CA" sz="1200" dirty="0"/>
          </a:p>
        </p:txBody>
      </p:sp>
      <p:sp>
        <p:nvSpPr>
          <p:cNvPr id="17" name="Flowchart: Manual Input 16">
            <a:extLst>
              <a:ext uri="{FF2B5EF4-FFF2-40B4-BE49-F238E27FC236}">
                <a16:creationId xmlns:a16="http://schemas.microsoft.com/office/drawing/2014/main" id="{A244D4C3-2634-83FB-6246-15F1B386E440}"/>
              </a:ext>
            </a:extLst>
          </p:cNvPr>
          <p:cNvSpPr/>
          <p:nvPr/>
        </p:nvSpPr>
        <p:spPr>
          <a:xfrm>
            <a:off x="4116903" y="4614888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Interpolate Slice</a:t>
            </a:r>
            <a:endParaRPr lang="en-CA" sz="1200" dirty="0"/>
          </a:p>
        </p:txBody>
      </p:sp>
      <p:sp>
        <p:nvSpPr>
          <p:cNvPr id="18" name="Flowchart: Manual Input 17">
            <a:extLst>
              <a:ext uri="{FF2B5EF4-FFF2-40B4-BE49-F238E27FC236}">
                <a16:creationId xmlns:a16="http://schemas.microsoft.com/office/drawing/2014/main" id="{7E2F3AEB-BB13-D215-1F5E-84149914D6C7}"/>
              </a:ext>
            </a:extLst>
          </p:cNvPr>
          <p:cNvSpPr/>
          <p:nvPr/>
        </p:nvSpPr>
        <p:spPr>
          <a:xfrm>
            <a:off x="5462416" y="4614888"/>
            <a:ext cx="1302404" cy="613586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Positive or Negative Height</a:t>
            </a:r>
            <a:endParaRPr lang="en-CA" sz="1200" dirty="0"/>
          </a:p>
        </p:txBody>
      </p:sp>
      <p:sp>
        <p:nvSpPr>
          <p:cNvPr id="19" name="Flowchart: Manual Input 18">
            <a:extLst>
              <a:ext uri="{FF2B5EF4-FFF2-40B4-BE49-F238E27FC236}">
                <a16:creationId xmlns:a16="http://schemas.microsoft.com/office/drawing/2014/main" id="{984C9955-9EB1-0D22-6CF3-E668472E5BB6}"/>
              </a:ext>
            </a:extLst>
          </p:cNvPr>
          <p:cNvSpPr/>
          <p:nvPr/>
        </p:nvSpPr>
        <p:spPr>
          <a:xfrm>
            <a:off x="7024314" y="4512059"/>
            <a:ext cx="1580255" cy="716415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Pre and Post Lesion ROIs</a:t>
            </a:r>
            <a:endParaRPr lang="en-CA" sz="1200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B67D389-29A4-CCB6-2E4E-2E8D86488A92}"/>
              </a:ext>
            </a:extLst>
          </p:cNvPr>
          <p:cNvCxnSpPr>
            <a:stCxn id="5" idx="0"/>
            <a:endCxn id="7" idx="1"/>
          </p:cNvCxnSpPr>
          <p:nvPr/>
        </p:nvCxnSpPr>
        <p:spPr>
          <a:xfrm rot="5400000" flipH="1" flipV="1">
            <a:off x="398620" y="2556477"/>
            <a:ext cx="1592035" cy="4159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948C15A-3E47-B8AE-B919-A35E13031097}"/>
              </a:ext>
            </a:extLst>
          </p:cNvPr>
          <p:cNvCxnSpPr>
            <a:stCxn id="5" idx="4"/>
            <a:endCxn id="14" idx="1"/>
          </p:cNvCxnSpPr>
          <p:nvPr/>
        </p:nvCxnSpPr>
        <p:spPr>
          <a:xfrm rot="16200000" flipH="1">
            <a:off x="665301" y="4132041"/>
            <a:ext cx="1081953" cy="4391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DD10D06-E553-0AEE-2356-BAC2F72A901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52621" y="2480205"/>
            <a:ext cx="1350949" cy="88283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02157EA-27C8-D18C-4C10-B6ACA429176B}"/>
              </a:ext>
            </a:extLst>
          </p:cNvPr>
          <p:cNvCxnSpPr>
            <a:cxnSpLocks/>
            <a:stCxn id="5" idx="4"/>
            <a:endCxn id="14" idx="0"/>
          </p:cNvCxnSpPr>
          <p:nvPr/>
        </p:nvCxnSpPr>
        <p:spPr>
          <a:xfrm rot="16200000" flipH="1">
            <a:off x="1052442" y="3744900"/>
            <a:ext cx="859769" cy="991297"/>
          </a:xfrm>
          <a:prstGeom prst="bentConnector3">
            <a:avLst>
              <a:gd name="adj1" fmla="val 5421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72DA0F6-1BD1-759E-6D18-514CBE8288C4}"/>
              </a:ext>
            </a:extLst>
          </p:cNvPr>
          <p:cNvCxnSpPr>
            <a:stCxn id="5" idx="0"/>
            <a:endCxn id="8" idx="2"/>
          </p:cNvCxnSpPr>
          <p:nvPr/>
        </p:nvCxnSpPr>
        <p:spPr>
          <a:xfrm rot="5400000" flipH="1" flipV="1">
            <a:off x="1475553" y="1749244"/>
            <a:ext cx="1322335" cy="2300084"/>
          </a:xfrm>
          <a:prstGeom prst="bentConnector3">
            <a:avLst>
              <a:gd name="adj1" fmla="val 479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D53C6F27-E9F1-C8F0-5104-CF943CD8D80B}"/>
              </a:ext>
            </a:extLst>
          </p:cNvPr>
          <p:cNvCxnSpPr>
            <a:stCxn id="5" idx="4"/>
            <a:endCxn id="15" idx="0"/>
          </p:cNvCxnSpPr>
          <p:nvPr/>
        </p:nvCxnSpPr>
        <p:spPr>
          <a:xfrm rot="16200000" flipH="1">
            <a:off x="1725199" y="3072144"/>
            <a:ext cx="859769" cy="2336810"/>
          </a:xfrm>
          <a:prstGeom prst="bentConnector3">
            <a:avLst>
              <a:gd name="adj1" fmla="val 5421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EE94645-A64F-1384-12FA-5F00DAF6A02A}"/>
              </a:ext>
            </a:extLst>
          </p:cNvPr>
          <p:cNvCxnSpPr>
            <a:stCxn id="5" idx="4"/>
            <a:endCxn id="17" idx="0"/>
          </p:cNvCxnSpPr>
          <p:nvPr/>
        </p:nvCxnSpPr>
        <p:spPr>
          <a:xfrm rot="16200000" flipH="1">
            <a:off x="2397955" y="2399387"/>
            <a:ext cx="859769" cy="3682323"/>
          </a:xfrm>
          <a:prstGeom prst="bentConnector3">
            <a:avLst>
              <a:gd name="adj1" fmla="val 5315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B5D8D40-B578-BE9B-EBE9-3771AF0621EB}"/>
              </a:ext>
            </a:extLst>
          </p:cNvPr>
          <p:cNvCxnSpPr>
            <a:stCxn id="5" idx="0"/>
            <a:endCxn id="9" idx="2"/>
          </p:cNvCxnSpPr>
          <p:nvPr/>
        </p:nvCxnSpPr>
        <p:spPr>
          <a:xfrm rot="5400000" flipH="1" flipV="1">
            <a:off x="2185669" y="1034196"/>
            <a:ext cx="1327266" cy="3725249"/>
          </a:xfrm>
          <a:prstGeom prst="bentConnector3">
            <a:avLst>
              <a:gd name="adj1" fmla="val 4795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D76B696-CEFA-63E5-92F8-B4F3C3E8CA68}"/>
              </a:ext>
            </a:extLst>
          </p:cNvPr>
          <p:cNvCxnSpPr>
            <a:stCxn id="5" idx="0"/>
            <a:endCxn id="10" idx="2"/>
          </p:cNvCxnSpPr>
          <p:nvPr/>
        </p:nvCxnSpPr>
        <p:spPr>
          <a:xfrm rot="5400000" flipH="1" flipV="1">
            <a:off x="2962291" y="260216"/>
            <a:ext cx="1324624" cy="5275851"/>
          </a:xfrm>
          <a:prstGeom prst="bentConnector3">
            <a:avLst>
              <a:gd name="adj1" fmla="val 4794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D8973C3-3898-1C6A-BDB7-DD2A2B544D9E}"/>
              </a:ext>
            </a:extLst>
          </p:cNvPr>
          <p:cNvCxnSpPr>
            <a:stCxn id="5" idx="4"/>
            <a:endCxn id="18" idx="0"/>
          </p:cNvCxnSpPr>
          <p:nvPr/>
        </p:nvCxnSpPr>
        <p:spPr>
          <a:xfrm rot="16200000" flipH="1">
            <a:off x="3117357" y="1679986"/>
            <a:ext cx="865582" cy="5126940"/>
          </a:xfrm>
          <a:prstGeom prst="bentConnector3">
            <a:avLst>
              <a:gd name="adj1" fmla="val 510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C616807-A8B7-9F00-F779-00F40A8DCB8E}"/>
              </a:ext>
            </a:extLst>
          </p:cNvPr>
          <p:cNvCxnSpPr>
            <a:stCxn id="5" idx="0"/>
            <a:endCxn id="11" idx="2"/>
          </p:cNvCxnSpPr>
          <p:nvPr/>
        </p:nvCxnSpPr>
        <p:spPr>
          <a:xfrm rot="5400000" flipH="1" flipV="1">
            <a:off x="3796601" y="-618872"/>
            <a:ext cx="1369402" cy="6989249"/>
          </a:xfrm>
          <a:prstGeom prst="bentConnector3">
            <a:avLst>
              <a:gd name="adj1" fmla="val 460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97C9097-7012-A5E1-2161-231EFC2275D9}"/>
              </a:ext>
            </a:extLst>
          </p:cNvPr>
          <p:cNvCxnSpPr>
            <a:stCxn id="5" idx="0"/>
            <a:endCxn id="12" idx="2"/>
          </p:cNvCxnSpPr>
          <p:nvPr/>
        </p:nvCxnSpPr>
        <p:spPr>
          <a:xfrm rot="5400000" flipH="1" flipV="1">
            <a:off x="4558827" y="-1381098"/>
            <a:ext cx="1369402" cy="8513701"/>
          </a:xfrm>
          <a:prstGeom prst="bentConnector3">
            <a:avLst>
              <a:gd name="adj1" fmla="val 4603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27E67CA0-0AAA-8185-BBFF-2230B3A96201}"/>
              </a:ext>
            </a:extLst>
          </p:cNvPr>
          <p:cNvCxnSpPr>
            <a:stCxn id="5" idx="4"/>
            <a:endCxn id="19" idx="0"/>
          </p:cNvCxnSpPr>
          <p:nvPr/>
        </p:nvCxnSpPr>
        <p:spPr>
          <a:xfrm rot="16200000" flipH="1">
            <a:off x="4014042" y="783301"/>
            <a:ext cx="773036" cy="6827764"/>
          </a:xfrm>
          <a:prstGeom prst="bentConnector3">
            <a:avLst>
              <a:gd name="adj1" fmla="val 581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E57C9A72-1D2E-9E6E-268A-79D5B9A7808F}"/>
              </a:ext>
            </a:extLst>
          </p:cNvPr>
          <p:cNvCxnSpPr>
            <a:stCxn id="5" idx="4"/>
            <a:endCxn id="13" idx="0"/>
          </p:cNvCxnSpPr>
          <p:nvPr/>
        </p:nvCxnSpPr>
        <p:spPr>
          <a:xfrm rot="16200000" flipH="1">
            <a:off x="4736558" y="60785"/>
            <a:ext cx="934172" cy="8433932"/>
          </a:xfrm>
          <a:prstGeom prst="bentConnector3">
            <a:avLst>
              <a:gd name="adj1" fmla="val 470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93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ACC34-4E0C-2F36-F99E-BD524C30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Chart - WING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427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User outline">
            <a:extLst>
              <a:ext uri="{FF2B5EF4-FFF2-40B4-BE49-F238E27FC236}">
                <a16:creationId xmlns:a16="http://schemas.microsoft.com/office/drawing/2014/main" id="{291AF77D-0396-9022-6C9B-62605E52B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62" y="3560453"/>
            <a:ext cx="250554" cy="250554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28BA86DA-7C37-C9D4-04B0-7A9CAF287712}"/>
              </a:ext>
            </a:extLst>
          </p:cNvPr>
          <p:cNvSpPr/>
          <p:nvPr/>
        </p:nvSpPr>
        <p:spPr>
          <a:xfrm>
            <a:off x="431638" y="3560453"/>
            <a:ext cx="240933" cy="250212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A6AD90-9A8E-6E29-50F7-C978E839D368}"/>
              </a:ext>
            </a:extLst>
          </p:cNvPr>
          <p:cNvCxnSpPr>
            <a:endCxn id="5" idx="2"/>
          </p:cNvCxnSpPr>
          <p:nvPr/>
        </p:nvCxnSpPr>
        <p:spPr>
          <a:xfrm>
            <a:off x="264216" y="3685559"/>
            <a:ext cx="1674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AC6F846-5E87-7B43-0AD7-C26884CE2256}"/>
              </a:ext>
            </a:extLst>
          </p:cNvPr>
          <p:cNvSpPr/>
          <p:nvPr/>
        </p:nvSpPr>
        <p:spPr>
          <a:xfrm>
            <a:off x="2295525" y="1441118"/>
            <a:ext cx="694922" cy="4376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Load Study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E9AFDF49-7D40-45A3-AA26-251E08675D4A}"/>
              </a:ext>
            </a:extLst>
          </p:cNvPr>
          <p:cNvSpPr/>
          <p:nvPr/>
        </p:nvSpPr>
        <p:spPr>
          <a:xfrm>
            <a:off x="1084232" y="2267204"/>
            <a:ext cx="1185331" cy="649669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CTP Study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25063-76F6-79D2-CBF3-BCC5CF5FF856}"/>
              </a:ext>
            </a:extLst>
          </p:cNvPr>
          <p:cNvSpPr/>
          <p:nvPr/>
        </p:nvSpPr>
        <p:spPr>
          <a:xfrm>
            <a:off x="5492438" y="1473154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Define Pre and Post Lesions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D3413-5A26-4683-F0BC-00765DEDE729}"/>
              </a:ext>
            </a:extLst>
          </p:cNvPr>
          <p:cNvSpPr/>
          <p:nvPr/>
        </p:nvSpPr>
        <p:spPr>
          <a:xfrm>
            <a:off x="7126696" y="1471924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Plot Pre and Post Lesion Curves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8B12E6B0-0D28-AA95-5290-51B5EDBB0D38}"/>
              </a:ext>
            </a:extLst>
          </p:cNvPr>
          <p:cNvSpPr/>
          <p:nvPr/>
        </p:nvSpPr>
        <p:spPr>
          <a:xfrm>
            <a:off x="3445475" y="1126779"/>
            <a:ext cx="1511930" cy="1068309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Level and Width?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9E72B5-0224-9783-7184-997248DB4C51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4957405" y="1658751"/>
            <a:ext cx="535033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FF875A0-829F-D9FE-4DB4-590446CC2B2F}"/>
              </a:ext>
            </a:extLst>
          </p:cNvPr>
          <p:cNvCxnSpPr>
            <a:cxnSpLocks/>
            <a:stCxn id="33" idx="3"/>
            <a:endCxn id="10" idx="2"/>
          </p:cNvCxnSpPr>
          <p:nvPr/>
        </p:nvCxnSpPr>
        <p:spPr>
          <a:xfrm flipV="1">
            <a:off x="5752414" y="1844348"/>
            <a:ext cx="400575" cy="6874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E7136D88-1302-8F08-6CF1-A4F32BFE2CB6}"/>
              </a:ext>
            </a:extLst>
          </p:cNvPr>
          <p:cNvSpPr/>
          <p:nvPr/>
        </p:nvSpPr>
        <p:spPr>
          <a:xfrm>
            <a:off x="8662780" y="1327668"/>
            <a:ext cx="1657195" cy="664724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Curve(s)?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0D7165-BE55-8BB7-A2F3-214651F43653}"/>
              </a:ext>
            </a:extLst>
          </p:cNvPr>
          <p:cNvSpPr/>
          <p:nvPr/>
        </p:nvSpPr>
        <p:spPr>
          <a:xfrm>
            <a:off x="10681033" y="1474058"/>
            <a:ext cx="1016000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Fit Curve(s)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3AF47-398E-978B-272B-88C7C7EF462E}"/>
              </a:ext>
            </a:extLst>
          </p:cNvPr>
          <p:cNvSpPr/>
          <p:nvPr/>
        </p:nvSpPr>
        <p:spPr>
          <a:xfrm>
            <a:off x="6315203" y="3429000"/>
            <a:ext cx="1321101" cy="6975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Calculate Mean Flow Velocity (Vera Protocol)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B1CCFBD-A3E8-CB98-12A5-B38F2563F973}"/>
              </a:ext>
            </a:extLst>
          </p:cNvPr>
          <p:cNvCxnSpPr>
            <a:cxnSpLocks/>
            <a:stCxn id="20" idx="3"/>
            <a:endCxn id="18" idx="2"/>
          </p:cNvCxnSpPr>
          <p:nvPr/>
        </p:nvCxnSpPr>
        <p:spPr>
          <a:xfrm flipV="1">
            <a:off x="2515839" y="4126579"/>
            <a:ext cx="4459915" cy="22957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Flowchart: Manual Input 19">
            <a:extLst>
              <a:ext uri="{FF2B5EF4-FFF2-40B4-BE49-F238E27FC236}">
                <a16:creationId xmlns:a16="http://schemas.microsoft.com/office/drawing/2014/main" id="{BBDC1CD7-421A-3290-DBFC-9F1E7A6DD4A2}"/>
              </a:ext>
            </a:extLst>
          </p:cNvPr>
          <p:cNvSpPr/>
          <p:nvPr/>
        </p:nvSpPr>
        <p:spPr>
          <a:xfrm>
            <a:off x="1411643" y="6144576"/>
            <a:ext cx="1104196" cy="555459"/>
          </a:xfrm>
          <a:prstGeom prst="flowChartManualIn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Input Parameters</a:t>
            </a:r>
            <a:endParaRPr lang="en-CA" sz="1200" dirty="0">
              <a:solidFill>
                <a:schemeClr val="tx1"/>
              </a:solidFill>
            </a:endParaRPr>
          </a:p>
          <a:p>
            <a:pPr algn="ctr"/>
            <a:endParaRPr lang="en-CA" sz="1200" dirty="0"/>
          </a:p>
        </p:txBody>
      </p:sp>
      <p:sp>
        <p:nvSpPr>
          <p:cNvPr id="21" name="Flowchart: Data 20">
            <a:extLst>
              <a:ext uri="{FF2B5EF4-FFF2-40B4-BE49-F238E27FC236}">
                <a16:creationId xmlns:a16="http://schemas.microsoft.com/office/drawing/2014/main" id="{142ABADF-0B93-8C48-E719-4C951B6FCC5E}"/>
              </a:ext>
            </a:extLst>
          </p:cNvPr>
          <p:cNvSpPr/>
          <p:nvPr/>
        </p:nvSpPr>
        <p:spPr>
          <a:xfrm>
            <a:off x="8268614" y="3584210"/>
            <a:ext cx="1614985" cy="398352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Output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Parameters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C2C9378-8D85-DFF2-8888-7301F49D32F5}"/>
              </a:ext>
            </a:extLst>
          </p:cNvPr>
          <p:cNvCxnSpPr>
            <a:cxnSpLocks/>
            <a:stCxn id="12" idx="2"/>
            <a:endCxn id="33" idx="1"/>
          </p:cNvCxnSpPr>
          <p:nvPr/>
        </p:nvCxnSpPr>
        <p:spPr>
          <a:xfrm rot="16200000" flipH="1">
            <a:off x="4316255" y="2080273"/>
            <a:ext cx="336710" cy="5663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CC2C111-A22A-4E2D-AF2E-D89A8FD092A9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473567" y="1738495"/>
            <a:ext cx="1900497" cy="17434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EF97532-950C-1CED-E1D1-5834F1327542}"/>
              </a:ext>
            </a:extLst>
          </p:cNvPr>
          <p:cNvCxnSpPr>
            <a:cxnSpLocks/>
            <a:stCxn id="5" idx="4"/>
            <a:endCxn id="20" idx="1"/>
          </p:cNvCxnSpPr>
          <p:nvPr/>
        </p:nvCxnSpPr>
        <p:spPr>
          <a:xfrm rot="16200000" flipH="1">
            <a:off x="-323946" y="4686716"/>
            <a:ext cx="2611641" cy="8595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783C6C-C135-6172-7ED3-B5B60F82E71D}"/>
              </a:ext>
            </a:extLst>
          </p:cNvPr>
          <p:cNvCxnSpPr/>
          <p:nvPr/>
        </p:nvCxnSpPr>
        <p:spPr>
          <a:xfrm>
            <a:off x="2990447" y="1659956"/>
            <a:ext cx="455028" cy="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E4FF16F-5EA3-E971-3F52-53053BE339C9}"/>
              </a:ext>
            </a:extLst>
          </p:cNvPr>
          <p:cNvSpPr txBox="1"/>
          <p:nvPr/>
        </p:nvSpPr>
        <p:spPr>
          <a:xfrm>
            <a:off x="4241077" y="2224942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237B41-B51F-EB49-5FEA-20E49D9275DD}"/>
              </a:ext>
            </a:extLst>
          </p:cNvPr>
          <p:cNvSpPr txBox="1"/>
          <p:nvPr/>
        </p:nvSpPr>
        <p:spPr>
          <a:xfrm>
            <a:off x="5078736" y="1663134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AC4E43-E605-1443-E026-17F8E1AC203B}"/>
              </a:ext>
            </a:extLst>
          </p:cNvPr>
          <p:cNvSpPr/>
          <p:nvPr/>
        </p:nvSpPr>
        <p:spPr>
          <a:xfrm>
            <a:off x="4767780" y="2313760"/>
            <a:ext cx="984634" cy="4360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Adjust Level/Width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03C1F7-3624-7DC2-26A7-398730C04DA5}"/>
              </a:ext>
            </a:extLst>
          </p:cNvPr>
          <p:cNvCxnSpPr/>
          <p:nvPr/>
        </p:nvCxnSpPr>
        <p:spPr>
          <a:xfrm flipV="1">
            <a:off x="6813539" y="1657521"/>
            <a:ext cx="313157" cy="1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D753BC5-0C09-4B2F-A8A0-E9E57FA21EE0}"/>
              </a:ext>
            </a:extLst>
          </p:cNvPr>
          <p:cNvCxnSpPr/>
          <p:nvPr/>
        </p:nvCxnSpPr>
        <p:spPr>
          <a:xfrm>
            <a:off x="8447797" y="1657521"/>
            <a:ext cx="214983" cy="2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A875D3E-DFCF-36BA-D6CE-F03B2FDDCE12}"/>
              </a:ext>
            </a:extLst>
          </p:cNvPr>
          <p:cNvSpPr txBox="1"/>
          <p:nvPr/>
        </p:nvSpPr>
        <p:spPr>
          <a:xfrm>
            <a:off x="9469255" y="2053605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Yes</a:t>
            </a:r>
            <a:endParaRPr lang="en-CA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DDECEA-C4B9-F661-D831-F0EE6CF04A79}"/>
              </a:ext>
            </a:extLst>
          </p:cNvPr>
          <p:cNvSpPr txBox="1"/>
          <p:nvPr/>
        </p:nvSpPr>
        <p:spPr>
          <a:xfrm>
            <a:off x="10350808" y="1400862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</a:t>
            </a:r>
            <a:endParaRPr lang="en-CA" sz="12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5721356-431D-B33B-A105-212B317FE7B3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10297187" y="1656266"/>
            <a:ext cx="383846" cy="3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82653FC-3845-E583-79FA-0A048FB57143}"/>
              </a:ext>
            </a:extLst>
          </p:cNvPr>
          <p:cNvCxnSpPr>
            <a:cxnSpLocks/>
          </p:cNvCxnSpPr>
          <p:nvPr/>
        </p:nvCxnSpPr>
        <p:spPr>
          <a:xfrm>
            <a:off x="9488517" y="1990640"/>
            <a:ext cx="1" cy="5391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3448B9C-C590-AD58-2627-32D69847037E}"/>
              </a:ext>
            </a:extLst>
          </p:cNvPr>
          <p:cNvSpPr/>
          <p:nvPr/>
        </p:nvSpPr>
        <p:spPr>
          <a:xfrm>
            <a:off x="8784806" y="2545680"/>
            <a:ext cx="1407422" cy="37119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Baseline/Washout Correction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53E92D3-E1F6-937B-71DC-49D73EE0CE92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10192228" y="1845252"/>
            <a:ext cx="1033017" cy="886025"/>
          </a:xfrm>
          <a:prstGeom prst="bentConnector3">
            <a:avLst>
              <a:gd name="adj1" fmla="val 990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73EC62E7-EBDB-CEDA-DD85-A37D1CF3E99D}"/>
              </a:ext>
            </a:extLst>
          </p:cNvPr>
          <p:cNvCxnSpPr>
            <a:cxnSpLocks/>
            <a:stCxn id="65" idx="2"/>
            <a:endCxn id="18" idx="0"/>
          </p:cNvCxnSpPr>
          <p:nvPr/>
        </p:nvCxnSpPr>
        <p:spPr>
          <a:xfrm rot="5400000">
            <a:off x="8928813" y="563142"/>
            <a:ext cx="912799" cy="4818916"/>
          </a:xfrm>
          <a:prstGeom prst="bentConnector3">
            <a:avLst>
              <a:gd name="adj1" fmla="val 6884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Flowchart: Data 57">
            <a:extLst>
              <a:ext uri="{FF2B5EF4-FFF2-40B4-BE49-F238E27FC236}">
                <a16:creationId xmlns:a16="http://schemas.microsoft.com/office/drawing/2014/main" id="{3429529E-A978-D624-22AA-1C0A2082FE09}"/>
              </a:ext>
            </a:extLst>
          </p:cNvPr>
          <p:cNvSpPr/>
          <p:nvPr/>
        </p:nvSpPr>
        <p:spPr>
          <a:xfrm>
            <a:off x="2688875" y="2267206"/>
            <a:ext cx="1222692" cy="656048"/>
          </a:xfrm>
          <a:prstGeom prst="flowChartInputOutput">
            <a:avLst/>
          </a:prstGeom>
          <a:noFill/>
          <a:ln cap="sq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WHC Study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E607EA-E0DC-BAA0-4E9F-8E192383F8DE}"/>
              </a:ext>
            </a:extLst>
          </p:cNvPr>
          <p:cNvSpPr/>
          <p:nvPr/>
        </p:nvSpPr>
        <p:spPr>
          <a:xfrm>
            <a:off x="11544383" y="2145007"/>
            <a:ext cx="500573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AUC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DCB7EB5C-74B9-18A1-39B1-2BF302D2E893}"/>
              </a:ext>
            </a:extLst>
          </p:cNvPr>
          <p:cNvCxnSpPr>
            <a:stCxn id="16" idx="3"/>
            <a:endCxn id="65" idx="0"/>
          </p:cNvCxnSpPr>
          <p:nvPr/>
        </p:nvCxnSpPr>
        <p:spPr>
          <a:xfrm>
            <a:off x="11697033" y="1659655"/>
            <a:ext cx="97637" cy="4853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4BC869D-2082-DFD9-D9E9-7AA1DBA5CD4B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rot="5400000" flipH="1" flipV="1">
            <a:off x="2025003" y="1649222"/>
            <a:ext cx="388411" cy="8475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0A2242B2-766C-3406-6DE7-1667693DCC10}"/>
              </a:ext>
            </a:extLst>
          </p:cNvPr>
          <p:cNvCxnSpPr>
            <a:stCxn id="58" idx="0"/>
            <a:endCxn id="7" idx="2"/>
          </p:cNvCxnSpPr>
          <p:nvPr/>
        </p:nvCxnSpPr>
        <p:spPr>
          <a:xfrm rot="16200000" flipV="1">
            <a:off x="2838532" y="1683248"/>
            <a:ext cx="388413" cy="7795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85E031F-A0E1-49C6-5B98-770D4BDCBDD4}"/>
              </a:ext>
            </a:extLst>
          </p:cNvPr>
          <p:cNvSpPr/>
          <p:nvPr/>
        </p:nvSpPr>
        <p:spPr>
          <a:xfrm>
            <a:off x="2515163" y="3243403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Define Pre and Post Lesions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FE809CA-7CED-4EEC-1BED-92DA45AB2271}"/>
              </a:ext>
            </a:extLst>
          </p:cNvPr>
          <p:cNvSpPr/>
          <p:nvPr/>
        </p:nvSpPr>
        <p:spPr>
          <a:xfrm>
            <a:off x="896701" y="3243403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Find reference % from Header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A1C3C94-D819-A514-3781-138A191830C9}"/>
              </a:ext>
            </a:extLst>
          </p:cNvPr>
          <p:cNvCxnSpPr>
            <a:cxnSpLocks/>
            <a:stCxn id="8" idx="3"/>
            <a:endCxn id="91" idx="0"/>
          </p:cNvCxnSpPr>
          <p:nvPr/>
        </p:nvCxnSpPr>
        <p:spPr>
          <a:xfrm flipH="1">
            <a:off x="1557252" y="2916873"/>
            <a:ext cx="1112" cy="326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8B3DB17-7302-1282-73C3-DCE6C29E5A47}"/>
              </a:ext>
            </a:extLst>
          </p:cNvPr>
          <p:cNvSpPr/>
          <p:nvPr/>
        </p:nvSpPr>
        <p:spPr>
          <a:xfrm>
            <a:off x="4305630" y="3148045"/>
            <a:ext cx="1455959" cy="554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Find number of isotropic pixels in ROI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82E35E7-DF05-EFD4-016F-7AE4480F5A9D}"/>
              </a:ext>
            </a:extLst>
          </p:cNvPr>
          <p:cNvSpPr/>
          <p:nvPr/>
        </p:nvSpPr>
        <p:spPr>
          <a:xfrm>
            <a:off x="4305791" y="4073490"/>
            <a:ext cx="1455959" cy="505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For each isotropic pixel, get the curve.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43F811B-3756-B515-9911-44FFD9719AEF}"/>
              </a:ext>
            </a:extLst>
          </p:cNvPr>
          <p:cNvSpPr/>
          <p:nvPr/>
        </p:nvSpPr>
        <p:spPr>
          <a:xfrm>
            <a:off x="2438955" y="4034389"/>
            <a:ext cx="1455959" cy="592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Reduce number of curves to one by (</a:t>
            </a:r>
            <a:r>
              <a:rPr lang="en-US" sz="1200" dirty="0" err="1">
                <a:solidFill>
                  <a:schemeClr val="tx1"/>
                </a:solidFill>
              </a:rPr>
              <a:t>i</a:t>
            </a:r>
            <a:r>
              <a:rPr lang="en-US" sz="1200" dirty="0">
                <a:solidFill>
                  <a:schemeClr val="tx1"/>
                </a:solidFill>
              </a:rPr>
              <a:t>) Mean or (ii) PCA</a:t>
            </a:r>
            <a:endParaRPr lang="en-CA" sz="12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D3FDCF4-8299-996D-C8C6-31344A9A44C6}"/>
              </a:ext>
            </a:extLst>
          </p:cNvPr>
          <p:cNvSpPr/>
          <p:nvPr/>
        </p:nvSpPr>
        <p:spPr>
          <a:xfrm>
            <a:off x="2308245" y="4932140"/>
            <a:ext cx="1716103" cy="7795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Convert HU Profile to Flow Velocity Profile with respect to reference %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3DCD230A-8F0F-E97C-F507-B50B17FA3491}"/>
              </a:ext>
            </a:extLst>
          </p:cNvPr>
          <p:cNvCxnSpPr>
            <a:cxnSpLocks/>
            <a:stCxn id="18" idx="3"/>
            <a:endCxn id="21" idx="2"/>
          </p:cNvCxnSpPr>
          <p:nvPr/>
        </p:nvCxnSpPr>
        <p:spPr>
          <a:xfrm>
            <a:off x="7636304" y="3777790"/>
            <a:ext cx="793809" cy="5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0F37850B-B64C-E37F-0651-56A592488420}"/>
              </a:ext>
            </a:extLst>
          </p:cNvPr>
          <p:cNvCxnSpPr>
            <a:stCxn id="91" idx="2"/>
            <a:endCxn id="100" idx="1"/>
          </p:cNvCxnSpPr>
          <p:nvPr/>
        </p:nvCxnSpPr>
        <p:spPr>
          <a:xfrm rot="16200000" flipH="1">
            <a:off x="1079095" y="4092753"/>
            <a:ext cx="1707307" cy="7509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B163EA9-EA95-624A-A31A-2B0449C3E8FD}"/>
              </a:ext>
            </a:extLst>
          </p:cNvPr>
          <p:cNvCxnSpPr>
            <a:cxnSpLocks/>
            <a:stCxn id="58" idx="3"/>
            <a:endCxn id="90" idx="0"/>
          </p:cNvCxnSpPr>
          <p:nvPr/>
        </p:nvCxnSpPr>
        <p:spPr>
          <a:xfrm flipH="1">
            <a:off x="3175714" y="2923254"/>
            <a:ext cx="2238" cy="320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EA9FB3A-3F04-3E0B-DBE9-1312337C09E5}"/>
              </a:ext>
            </a:extLst>
          </p:cNvPr>
          <p:cNvCxnSpPr>
            <a:stCxn id="90" idx="3"/>
            <a:endCxn id="96" idx="1"/>
          </p:cNvCxnSpPr>
          <p:nvPr/>
        </p:nvCxnSpPr>
        <p:spPr>
          <a:xfrm flipV="1">
            <a:off x="3836264" y="3425102"/>
            <a:ext cx="469366" cy="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60A4424-D25E-9418-F63E-190D24C06D76}"/>
              </a:ext>
            </a:extLst>
          </p:cNvPr>
          <p:cNvSpPr/>
          <p:nvPr/>
        </p:nvSpPr>
        <p:spPr>
          <a:xfrm>
            <a:off x="4564370" y="5134591"/>
            <a:ext cx="1321101" cy="3711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Plot Flow Velocity Profile</a:t>
            </a:r>
            <a:endParaRPr lang="en-CA" sz="1200" dirty="0">
              <a:solidFill>
                <a:schemeClr val="tx1"/>
              </a:solidFill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06E0AB6-3A60-67F7-B1C2-EA9D34CD1B17}"/>
              </a:ext>
            </a:extLst>
          </p:cNvPr>
          <p:cNvCxnSpPr>
            <a:stCxn id="100" idx="3"/>
            <a:endCxn id="112" idx="1"/>
          </p:cNvCxnSpPr>
          <p:nvPr/>
        </p:nvCxnSpPr>
        <p:spPr>
          <a:xfrm flipV="1">
            <a:off x="4024348" y="5320188"/>
            <a:ext cx="540022" cy="1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CC171A26-DE79-3405-8A36-32410BCA4655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rot="16200000" flipH="1">
            <a:off x="4848025" y="3887743"/>
            <a:ext cx="371331" cy="16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41C77A03-CADF-B5BA-53AF-0E9857747403}"/>
              </a:ext>
            </a:extLst>
          </p:cNvPr>
          <p:cNvCxnSpPr>
            <a:stCxn id="97" idx="1"/>
            <a:endCxn id="99" idx="3"/>
          </p:cNvCxnSpPr>
          <p:nvPr/>
        </p:nvCxnSpPr>
        <p:spPr>
          <a:xfrm flipH="1">
            <a:off x="3894914" y="4326203"/>
            <a:ext cx="410877" cy="4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5E6DEA7-4951-4820-E9EF-956D4B398B16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 flipH="1">
            <a:off x="3166297" y="4626586"/>
            <a:ext cx="638" cy="305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69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2014</TotalTime>
  <Words>251</Words>
  <Application>Microsoft Office PowerPoint</Application>
  <PresentationFormat>Widescreen</PresentationFormat>
  <Paragraphs>83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Flow Chart - VERA</vt:lpstr>
      <vt:lpstr>PowerPoint Presentation</vt:lpstr>
      <vt:lpstr>Flow Chart – VERA: Input Parameters</vt:lpstr>
      <vt:lpstr>Flow Chart - WING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Mahmud Hasan</dc:creator>
  <cp:lastModifiedBy>Mahmud Hasan</cp:lastModifiedBy>
  <cp:revision>24</cp:revision>
  <dcterms:created xsi:type="dcterms:W3CDTF">2024-05-02T13:51:29Z</dcterms:created>
  <dcterms:modified xsi:type="dcterms:W3CDTF">2024-09-10T18:04:48Z</dcterms:modified>
</cp:coreProperties>
</file>